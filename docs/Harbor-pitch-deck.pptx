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Harbor helps a small business owner decide, every morning, which unpaid invoice to chase so they do not run short of cash. Problem statement 4, The Small Business Invoice Chase. Live at harbor-app-g6jt.onrender.com.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user is the owner of a small credit-selling business with no accounts team. Receipts and obligations are never connected, so a cash gap is a surprise. Both numbers come from our synthetic demo business, not from a survey. We have not run user interviews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Cash Gap Radar: the first projected breach, the payments that cause it, receipts that arrive too late, and a collection plan that could close it. Every priority shows its five factor scores and a plain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The 13-week forecast shows the lowest point and the shortfall. 2. Follow-ups lists who to chase today, why now, and a prepared message in English or Hindi. 3. Customer replies (paid, promise, dispute) land in the Inbox; nothing changes until the owner confirms, then the forecast recalculates.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Real: forecast, priority engine, GST maths (integer paise), reminder ladder, bank reconciliation, printable invoices and demand letters, 109 automated tests. Simulated: the business and all its data are synthetic; data lives in localStorage, so the customer page works in the same browser only. The Render Workflow integrity check is coded but not yet connected on the live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Next, in order: test with at least three owners against a spreadsheet (time to pick the three invoices, correct shortfall date); an encrypted shared backend so the customer page works on any device; consented bank feeds instead of CSV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live link in a private window before submitting. The repo must be public for judges to open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10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2450277" cy="347472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37" y="466344"/>
            <a:ext cx="2178220" cy="1828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9875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1D2D52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548640" y="9875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</a:t>
            </a:r>
            <a:endParaRPr lang="en-US" sz="7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right invoice first.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246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when cash will dip below your safety buffer, which unpaid invoice can close the gap, and what to send today.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  ·  [Member names]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502920"/>
            <a:ext cx="2103120" cy="41605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pic>
        <p:nvPicPr>
          <p:cNvPr id="33" name="Harbor screenshot" descr="Screenshot of the Harbor app (synthetic demo data)"/>
          <p:cNvPicPr>
            <a:picLocks noChangeAspect="1"/>
          </p:cNvPicPr>
          <p:nvPr/>
        </p:nvPicPr>
        <p:blipFill>
          <a:blip r:embed="rId10"/>
          <a:srcRect b="55"/>
          <a:stretch>
            <a:fillRect/>
          </a:stretch>
        </p:blipFill>
        <p:spPr>
          <a:xfrm>
            <a:off x="6389827" y="629107"/>
            <a:ext cx="1850746" cy="3908146"/>
          </a:xfrm>
          <a:prstGeom prst="roundRect">
            <a:avLst>
              <a:gd name="adj" fmla="val 10000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on paper, short on payday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480560" cy="3246120"/>
          </a:xfrm>
          <a:prstGeom prst="roundRect">
            <a:avLst>
              <a:gd name="adj" fmla="val 422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286000"/>
            <a:ext cx="3886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 sit unpaid at different stages, follow-ups are irregular, and the owner finds the shortfall only when salaries or GST are due.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3931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HackCache ’26 PS4, The Small Business Invoice Chase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40680" y="148132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39" y="161208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₹3,36,050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21214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in our sample business, a carton supplier with 12 customers on 30-day terms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40680" y="3127248"/>
            <a:ext cx="502920" cy="50292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439" y="3258007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2648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days</a:t>
            </a:r>
            <a:endParaRPr lang="en-US" sz="44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its cash dips below the safety buffer, with salaries and rent due the same week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gap. Chase one invoice. Stay funded.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connects unpaid invoices to upcoming salary, rent, supplier and GST payments, then tells the owner which follow-up closes the gap.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80360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 you before cash falls below your buffer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355848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4728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why each invoice is first, no black-box score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1421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39227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Prepares the reminder, and you choose to send it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63640" y="411480"/>
            <a:ext cx="2103120" cy="429768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pic>
        <p:nvPicPr>
          <p:cNvPr id="36" name="Harbor screenshot" descr="Screenshot of the Harbor app (synthetic demo data)"/>
          <p:cNvPicPr>
            <a:picLocks noChangeAspect="1"/>
          </p:cNvPicPr>
          <p:nvPr/>
        </p:nvPicPr>
        <p:blipFill>
          <a:blip r:embed="rId11"/>
          <a:srcRect l="1669" r="1669"/>
          <a:stretch>
            <a:fillRect/>
          </a:stretch>
        </p:blipFill>
        <p:spPr>
          <a:xfrm>
            <a:off x="6389827" y="537667"/>
            <a:ext cx="1850746" cy="4045306"/>
          </a:xfrm>
          <a:prstGeom prst="roundRect">
            <a:avLst>
              <a:gd name="adj" fmla="val 10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cash gap to action in three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when cash dips below your buffer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18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2918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7490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the invoice that helps most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7033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35040" y="1078992"/>
            <a:ext cx="347472" cy="347472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035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1078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and payments update the plan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446520" y="1600200"/>
            <a:ext cx="1600200" cy="3246120"/>
          </a:xfrm>
          <a:prstGeom prst="roundRect">
            <a:avLst>
              <a:gd name="adj" fmla="val 14000"/>
            </a:avLst>
          </a:prstGeom>
          <a:solidFill>
            <a:srgbClr val="0B1224"/>
          </a:solidFill>
          <a:ln w="12700">
            <a:solidFill>
              <a:srgbClr val="3B4B70"/>
            </a:solidFill>
            <a:prstDash val="solid"/>
          </a:ln>
        </p:spPr>
      </p:sp>
      <p:pic>
        <p:nvPicPr>
          <p:cNvPr id="72" name="Harbor screenshot" descr="Screenshot of the Harbor app (synthetic demo data)"/>
          <p:cNvPicPr>
            <a:picLocks noChangeAspect="1"/>
          </p:cNvPicPr>
          <p:nvPr/>
        </p:nvPicPr>
        <p:blipFill>
          <a:blip r:embed="rId9"/>
          <a:srcRect l="1291" r="1291"/>
          <a:stretch>
            <a:fillRect/>
          </a:stretch>
        </p:blipFill>
        <p:spPr>
          <a:xfrm>
            <a:off x="1056132" y="1696212"/>
            <a:ext cx="1408176" cy="3054096"/>
          </a:xfrm>
          <a:prstGeom prst="roundRect">
            <a:avLst>
              <a:gd name="adj" fmla="val 10000"/>
            </a:avLst>
          </a:prstGeom>
        </p:spPr>
      </p:pic>
      <p:pic>
        <p:nvPicPr>
          <p:cNvPr id="73" name="Harbor screenshot" descr="Screenshot of the Harbor app (synthetic demo data)"/>
          <p:cNvPicPr>
            <a:picLocks noChangeAspect="1"/>
          </p:cNvPicPr>
          <p:nvPr/>
        </p:nvPicPr>
        <p:blipFill>
          <a:blip r:embed="rId10"/>
          <a:srcRect l="1291" r="1291"/>
          <a:stretch>
            <a:fillRect/>
          </a:stretch>
        </p:blipFill>
        <p:spPr>
          <a:xfrm>
            <a:off x="3799332" y="1696212"/>
            <a:ext cx="1408176" cy="3054096"/>
          </a:xfrm>
          <a:prstGeom prst="roundRect">
            <a:avLst>
              <a:gd name="adj" fmla="val 10000"/>
            </a:avLst>
          </a:prstGeom>
        </p:spPr>
      </p:pic>
      <p:pic>
        <p:nvPicPr>
          <p:cNvPr id="74" name="Harbor screenshot" descr="Screenshot of the Harbor app (synthetic demo data)"/>
          <p:cNvPicPr>
            <a:picLocks noChangeAspect="1"/>
          </p:cNvPicPr>
          <p:nvPr/>
        </p:nvPicPr>
        <p:blipFill>
          <a:blip r:embed="rId11"/>
          <a:srcRect l="1291" r="1291"/>
          <a:stretch>
            <a:fillRect/>
          </a:stretch>
        </p:blipFill>
        <p:spPr>
          <a:xfrm>
            <a:off x="6542532" y="1696212"/>
            <a:ext cx="1408176" cy="3054096"/>
          </a:xfrm>
          <a:prstGeom prst="roundRect">
            <a:avLst>
              <a:gd name="adj" fmla="val 10000"/>
            </a:avLst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React, Express and Render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86080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assistant. Wrote much of the code from our prompts.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7752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on Render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the React app and keeps API keys on the server.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68960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email, SMS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prepared reminder. The owner presses send.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177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E8F6EF"/>
          </a:solidFill>
          <a:ln w="12700">
            <a:solidFill>
              <a:srgbClr val="E8F6E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1463040"/>
            <a:ext cx="420624" cy="420624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682" y="1572402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463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846320" y="2532888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0292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13-week forecast and gap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063240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292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 priority score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846320" y="3593592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29200" y="35295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 invoices and letters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23944"/>
            <a:ext cx="91440" cy="91440"/>
          </a:xfrm>
          <a:prstGeom prst="ellipse">
            <a:avLst/>
          </a:prstGeom>
          <a:solidFill>
            <a:srgbClr val="18A06B"/>
          </a:solidFill>
          <a:ln w="12700">
            <a:solidFill>
              <a:srgbClr val="18A06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29200" y="40599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CSV matching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75120" y="1234440"/>
            <a:ext cx="1920240" cy="3383280"/>
          </a:xfrm>
          <a:prstGeom prst="roundRect">
            <a:avLst>
              <a:gd name="adj" fmla="val 7143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03720" y="1463040"/>
            <a:ext cx="420624" cy="420624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082" y="1572402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6903720" y="2532888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086600" y="24688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demo business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063240"/>
            <a:ext cx="91440" cy="9144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0866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in one browser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helps, and what comes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helps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516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19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 and CAs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33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chase payments for several small clients at once.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7660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with staff to pay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learn about a shortfall only when salaries are due.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6804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Wholesalers and suppliers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on 30-day credit, with no accounts team.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937760" y="1234440"/>
            <a:ext cx="3657600" cy="3383280"/>
          </a:xfrm>
          <a:prstGeom prst="roundRect">
            <a:avLst>
              <a:gd name="adj" fmla="val 40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21208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build next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12080" y="205740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21208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203911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three small-business owners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212080" y="288036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12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760720" y="2862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shared backend for customer replies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212080" y="3703320"/>
            <a:ext cx="365760" cy="365760"/>
          </a:xfrm>
          <a:prstGeom prst="ellipse">
            <a:avLst/>
          </a:prstGeom>
          <a:solidFill>
            <a:srgbClr val="F0A43A"/>
          </a:solidFill>
          <a:ln w="12700">
            <a:solidFill>
              <a:srgbClr val="F0A4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12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760720" y="36850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feeds via Account Aggregator, with consent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nitinraina-cachedinfo/a7d1d877-a336-4565-adcb-7cbe51d8340f/scratchpad/deck/brand/lockup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045" y="704088"/>
            <a:ext cx="2321315" cy="329184"/>
          </a:xfrm>
          <a:prstGeom prst="rect">
            <a:avLst/>
          </a:prstGeom>
        </p:spPr>
      </p:pic>
      <p:pic>
        <p:nvPicPr>
          <p:cNvPr id="3" name="Image 1" descr="/private/tmp/claude-501/-Users-nitinraina-cachedinfo/a7d1d877-a336-4565-adcb-7cbe51d8340f/scratchpad/deck/brand/wordmark-on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140" y="4526280"/>
            <a:ext cx="2178220" cy="1828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Harbor on your phone right now.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4612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7472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7472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0624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0" y="1920240"/>
            <a:ext cx="2468880" cy="1143000"/>
          </a:xfrm>
          <a:prstGeom prst="roundRect">
            <a:avLst>
              <a:gd name="adj" fmla="val 12000"/>
            </a:avLst>
          </a:prstGeom>
          <a:solidFill>
            <a:srgbClr val="1D2D52"/>
          </a:solidFill>
          <a:ln w="12700">
            <a:solidFill>
              <a:srgbClr val="1D2D5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2200" y="2194560"/>
            <a:ext cx="594360" cy="594360"/>
          </a:xfrm>
          <a:prstGeom prst="ellipse">
            <a:avLst/>
          </a:prstGeom>
          <a:solidFill>
            <a:srgbClr val="2F5BD3"/>
          </a:solidFill>
          <a:ln w="12700">
            <a:solidFill>
              <a:srgbClr val="2F5BD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17220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903720" y="22128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03720" y="2505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[Role]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570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60120" y="3520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2057400" y="35204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harbor-app-g6jt.onrender.com</a:t>
            </a:r>
            <a:endParaRPr lang="en-US" sz="15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5993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60120" y="4023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C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2057400" y="40233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github.com/deneal2005/harbor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Kagaz: sample pitch deck (HackCache 26)</dc:title>
  <dc:subject>PptxGenJS Presentation</dc:subject>
  <dc:creator>PptxGenJS</dc:creator>
  <cp:lastModifiedBy>PptxGenJS</cp:lastModifiedBy>
  <cp:revision>1</cp:revision>
  <dcterms:created xsi:type="dcterms:W3CDTF">2026-09-26T10:49:33Z</dcterms:created>
  <dcterms:modified xsi:type="dcterms:W3CDTF">2026-09-26T10:49:33Z</dcterms:modified>
</cp:coreProperties>
</file>